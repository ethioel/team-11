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2271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153A49"/>
                </a:solidFill>
              </a:rPr>
              <a:t>Team </a:t>
            </a:r>
            <a:r>
              <a:rPr sz="2800" b="1" dirty="0" err="1">
                <a:solidFill>
                  <a:srgbClr val="153A49"/>
                </a:solidFill>
              </a:rPr>
              <a:t>Beso</a:t>
            </a:r>
            <a:endParaRPr sz="2800" b="1" dirty="0">
              <a:solidFill>
                <a:srgbClr val="153A4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39" y="1097280"/>
            <a:ext cx="33030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153A49"/>
                </a:solidFill>
              </a:rPr>
              <a:t>Crop Yield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71871" y="1828800"/>
            <a:ext cx="2743200" cy="1645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06111" y="3474720"/>
            <a:ext cx="3474720" cy="2011680"/>
          </a:xfrm>
          <a:prstGeom prst="rect">
            <a:avLst/>
          </a:prstGeom>
          <a:solidFill>
            <a:srgbClr val="3482C1"/>
          </a:solidFill>
          <a:ln>
            <a:solidFill>
              <a:srgbClr val="348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39" y="1957562"/>
            <a:ext cx="7568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93F4C"/>
                </a:solidFill>
              </a:rPr>
              <a:t>A climate-aware machine learning solution to forecast crop yield and revenue.</a:t>
            </a:r>
          </a:p>
          <a:p>
            <a:r>
              <a:rPr sz="1400" dirty="0">
                <a:solidFill>
                  <a:srgbClr val="3C505A"/>
                </a:solidFill>
              </a:rPr>
              <a:t>Improving agronomic decisions through robust data cleaning, weather-derived features, and a high-performing </a:t>
            </a:r>
            <a:r>
              <a:rPr sz="1400" dirty="0" err="1">
                <a:solidFill>
                  <a:srgbClr val="3C505A"/>
                </a:solidFill>
              </a:rPr>
              <a:t>RandomForest</a:t>
            </a:r>
            <a:r>
              <a:rPr sz="1400" dirty="0">
                <a:solidFill>
                  <a:srgbClr val="3C505A"/>
                </a:solidFill>
              </a:rPr>
              <a:t> </a:t>
            </a:r>
            <a:r>
              <a:rPr sz="1400" dirty="0" err="1">
                <a:solidFill>
                  <a:srgbClr val="3C505A"/>
                </a:solidFill>
              </a:rPr>
              <a:t>regressor</a:t>
            </a:r>
            <a:r>
              <a:rPr sz="1400" dirty="0">
                <a:solidFill>
                  <a:srgbClr val="3C505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7631" y="2063931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</a:rPr>
              <a:t>RMSE</a:t>
            </a:r>
            <a:r>
              <a:rPr dirty="0"/>
              <a:t/>
            </a:r>
            <a:br>
              <a:rPr dirty="0"/>
            </a:br>
            <a:r>
              <a:rPr dirty="0"/>
              <a:t>0.5376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8991" y="397764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R²</a:t>
            </a:r>
            <a:r>
              <a:rPr dirty="0"/>
              <a:t/>
            </a:r>
            <a:br>
              <a:rPr dirty="0"/>
            </a:br>
            <a:r>
              <a:rPr dirty="0"/>
              <a:t>0.8553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Team </a:t>
            </a:r>
            <a:r>
              <a:rPr sz="900" dirty="0" err="1">
                <a:solidFill>
                  <a:srgbClr val="FFFFFF"/>
                </a:solidFill>
              </a:rPr>
              <a:t>Beso</a:t>
            </a:r>
            <a:r>
              <a:rPr sz="900" dirty="0">
                <a:solidFill>
                  <a:srgbClr val="FFFFFF"/>
                </a:solidFill>
              </a:rPr>
              <a:t> • Crop Yield Prediction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3A49"/>
                </a:solidFill>
              </a:rPr>
              <a:t>Data and cleaning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85E6B"/>
                </a:solidFill>
              </a:rPr>
              <a:t>Immutable raw inputs, validated joins, and reproducible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657600" cy="2468880"/>
          </a:xfrm>
          <a:prstGeom prst="roundRect">
            <a:avLst/>
          </a:prstGeom>
          <a:solidFill>
            <a:srgbClr val="E4F5EC"/>
          </a:solidFill>
          <a:ln>
            <a:solidFill>
              <a:srgbClr val="E4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4343D"/>
                </a:solidFill>
              </a:rPr>
              <a:t>Raw data handling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Kept raw files unchanged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Standardized crop and region labels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Converted month labels to valid numeric values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Logged cleaning decisions and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108960" cy="2468880"/>
          </a:xfrm>
          <a:prstGeom prst="round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4343D"/>
                </a:solidFill>
              </a:rPr>
              <a:t>Weather integration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Merged regional weather data by year and region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Handled missing climate fields carefully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Retained weather-season signals for model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2468880"/>
          </a:xfrm>
          <a:prstGeom prst="round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4343D"/>
                </a:solidFill>
              </a:rPr>
              <a:t>Compliance guardrails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Price kept for analysis only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Train-only fitting applied</a:t>
            </a:r>
          </a:p>
          <a:p>
            <a:pPr algn="l"/>
            <a:r>
              <a:rPr sz="1100">
                <a:solidFill>
                  <a:srgbClr val="14343D"/>
                </a:solidFill>
              </a:rPr>
              <a:t>Public outputs written to data/processed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Team Beso • Crop Yield Prediction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3A49"/>
                </a:solidFill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85E6B"/>
                </a:solidFill>
              </a:rPr>
              <a:t>Turning climatic and agronomic signals into model-ready predictors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377440" cy="128016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Weather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Seasonal temperature &amp; rainfall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468880" cy="12801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Agronomy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Fertilizer + soil + labor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2560320" cy="12801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Timing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Cyclical planting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560320" cy="1280160"/>
          </a:xfrm>
          <a:prstGeom prst="roundRect">
            <a:avLst/>
          </a:prstGeom>
          <a:solidFill>
            <a:srgbClr val="BE4B27"/>
          </a:solidFill>
          <a:ln>
            <a:solidFill>
              <a:srgbClr val="BE4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Risk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Extreme heat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241280" cy="1920240"/>
          </a:xfrm>
          <a:prstGeom prst="roundRect">
            <a:avLst/>
          </a:prstGeom>
          <a:solidFill>
            <a:srgbClr val="E9F6F4"/>
          </a:solidFill>
          <a:ln>
            <a:solidFill>
              <a:srgbClr val="E9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0E232C"/>
                </a:solidFill>
              </a:rPr>
              <a:t>Core engineered variables</a:t>
            </a:r>
          </a:p>
          <a:p>
            <a:pPr algn="l"/>
            <a:r>
              <a:rPr sz="1100">
                <a:solidFill>
                  <a:srgbClr val="0E232C"/>
                </a:solidFill>
              </a:rPr>
              <a:t>season_mean_temp, season_rainfall_total, season_rainfall_mean</a:t>
            </a:r>
          </a:p>
          <a:p>
            <a:pPr algn="l"/>
            <a:r>
              <a:rPr sz="1100">
                <a:solidFill>
                  <a:srgbClr val="0E232C"/>
                </a:solidFill>
              </a:rPr>
              <a:t>season_extreme_heat_days, season_temp_std</a:t>
            </a:r>
          </a:p>
          <a:p>
            <a:pPr algn="l"/>
            <a:r>
              <a:rPr sz="1100">
                <a:solidFill>
                  <a:srgbClr val="0E232C"/>
                </a:solidFill>
              </a:rPr>
              <a:t>fertilizer_per_labor_day, fertilizer_x_improved_seed, soil_x_fertilizer</a:t>
            </a:r>
          </a:p>
          <a:p>
            <a:pPr algn="l"/>
            <a:r>
              <a:rPr sz="1100">
                <a:solidFill>
                  <a:srgbClr val="0E232C"/>
                </a:solidFill>
              </a:rPr>
              <a:t>planting_month_sin, planting_month_cos, rainfall_to_fertilizer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Team Beso • Crop Yield Prediction •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3A49"/>
                </a:solidFill>
              </a:rPr>
              <a:t>Modeling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85E6B"/>
                </a:solidFill>
              </a:rPr>
              <a:t>Baseline, regression, and ensemble comparison on a held-out validation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0116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Baseline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1.4131 RMSE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194560" cy="11887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Linear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0.8896 RMSE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2560320" cy="11887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RandomForest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0.5376 RMSE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468880" cy="11887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</a:rPr>
              <a:t>R²</a:t>
            </a:r>
          </a:p>
          <a:p>
            <a:pPr algn="l"/>
            <a:r>
              <a:rPr sz="2200" b="1">
                <a:solidFill>
                  <a:srgbClr val="FFFFFF"/>
                </a:solidFill>
              </a:rPr>
              <a:t>0.8553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475488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22634"/>
                </a:solidFill>
              </a:rPr>
              <a:t>Evaluation results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MAE = 0.3950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5-fold CV RMSE mean = 0.5576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5-fold CV RMSE std = 0.0046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Final model saved to models/final_model.joblib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4937760" cy="2011680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22634"/>
                </a:solidFill>
              </a:rPr>
              <a:t>Why RandomForest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Best validation performance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Strong stability across the split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Weather and agronomic drivers were preserved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Produced the most actionable business forecast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Team Beso • Crop Yield Prediction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3A49"/>
                </a:solidFill>
              </a:rPr>
              <a:t>Business impact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9326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85E6B"/>
                </a:solidFill>
              </a:rPr>
              <a:t>Turning predictive insights into practical agronomic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840480" cy="24688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22634"/>
                </a:solidFill>
              </a:rPr>
              <a:t>Operational value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Helps plan field operations and input allocation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Improves yield expectations by region and crop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Supports crop-specific revenue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371600"/>
            <a:ext cx="2926080" cy="24688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22634"/>
                </a:solidFill>
              </a:rPr>
              <a:t>User-facing tools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Interactive Streamlit app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Scenario testing for farm inputs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Revenue and climate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00400" cy="2468880"/>
          </a:xfrm>
          <a:prstGeom prst="roundRect">
            <a:avLst/>
          </a:prstGeom>
          <a:solidFill>
            <a:srgbClr val="FFF7DC"/>
          </a:solidFill>
          <a:ln>
            <a:solidFill>
              <a:srgbClr val="FFF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122634"/>
                </a:solidFill>
              </a:rPr>
              <a:t>Next improvements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Add more temporal signals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Test ensemble models</a:t>
            </a:r>
          </a:p>
          <a:p>
            <a:pPr algn="l"/>
            <a:r>
              <a:rPr sz="1100">
                <a:solidFill>
                  <a:srgbClr val="122634"/>
                </a:solidFill>
              </a:rPr>
              <a:t>Expand region-level 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7589520" cy="1005840"/>
          </a:xfrm>
          <a:prstGeom prst="roundRect">
            <a:avLst/>
          </a:prstGeom>
          <a:solidFill>
            <a:srgbClr val="134E4A"/>
          </a:solidFill>
          <a:ln>
            <a:solidFill>
              <a:srgbClr val="13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Outcome: A high-performing, rule-compliant, and reproducible crop-yield prediction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0C5D59"/>
          </a:solidFill>
          <a:ln>
            <a:solidFill>
              <a:srgbClr val="0C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943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</a:rPr>
              <a:t>Team Beso • Crop Yield Prediction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342</Words>
  <Application>Microsoft Office PowerPoint</Application>
  <PresentationFormat>Custom</PresentationFormat>
  <Paragraphs>76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ismail - [2010]</cp:lastModifiedBy>
  <cp:revision>2</cp:revision>
  <dcterms:created xsi:type="dcterms:W3CDTF">2013-01-27T09:14:16Z</dcterms:created>
  <dcterms:modified xsi:type="dcterms:W3CDTF">2026-10-06T12:37:54Z</dcterms:modified>
  <cp:category/>
</cp:coreProperties>
</file>