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7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640080"/>
            <a:ext cx="1280160" cy="1280160"/>
          </a:xfrm>
          <a:prstGeom prst="ellipse">
            <a:avLst/>
          </a:prstGeom>
          <a:solidFill>
            <a:srgbClr val="2E7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59568" y="978408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Team 11</a:t>
            </a:r>
          </a:p>
          <a:p>
            <a:pPr algn="l"/>
            <a:r>
              <a:rPr sz="3000" b="1">
                <a:solidFill>
                  <a:srgbClr val="D9EFE4"/>
                </a:solidFill>
                <a:latin typeface="Aptos"/>
              </a:rPr>
              <a:t>Crop Yield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6035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Turning agronomic and climate data into accurate, actionable yield forecasts.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97680"/>
            <a:ext cx="22860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2E7D5C"/>
                </a:solidFill>
              </a:rPr>
              <a:t>Agricultural 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297680"/>
            <a:ext cx="2560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448056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2E7D5C"/>
                </a:solidFill>
              </a:rPr>
              <a:t>Climate-informed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97680"/>
            <a:ext cx="21945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4805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2E7D5C"/>
                </a:solidFill>
              </a:rPr>
              <a:t>Model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2286000"/>
            <a:ext cx="29260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260604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400">
                <a:solidFill>
                  <a:srgbClr val="0C2034"/>
                </a:solidFill>
              </a:rPr>
              <a:t>Validation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3200400"/>
            <a:ext cx="2377440" cy="411480"/>
          </a:xfrm>
          <a:prstGeom prst="rect">
            <a:avLst/>
          </a:prstGeom>
          <a:solidFill>
            <a:srgbClr val="D9EFE4"/>
          </a:solidFill>
          <a:ln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324612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0C2034"/>
                </a:solidFill>
              </a:rPr>
              <a:t>R²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2461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2E7D5C"/>
                </a:solidFill>
              </a:rPr>
              <a:t>0.8553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840480"/>
            <a:ext cx="2377440" cy="411480"/>
          </a:xfrm>
          <a:prstGeom prst="rect">
            <a:avLst/>
          </a:prstGeom>
          <a:solidFill>
            <a:srgbClr val="D9EFE4"/>
          </a:solidFill>
          <a:ln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388620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0C2034"/>
                </a:solidFill>
              </a:rPr>
              <a:t>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8862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2E7D5C"/>
                </a:solidFill>
              </a:rPr>
              <a:t>0.5376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4480560"/>
            <a:ext cx="2377440" cy="411480"/>
          </a:xfrm>
          <a:prstGeom prst="rect">
            <a:avLst/>
          </a:prstGeom>
          <a:solidFill>
            <a:srgbClr val="D9EFE4"/>
          </a:solidFill>
          <a:ln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452628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0C2034"/>
                </a:solidFill>
              </a:rPr>
              <a:t>MAE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45262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2E7D5C"/>
                </a:solidFill>
              </a:rPr>
              <a:t>0.3950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Project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Build a reliable crop yield forecast under competition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27432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2E7D5C"/>
                </a:solidFill>
                <a:latin typeface="Aptos"/>
              </a:rPr>
              <a:t>Core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Predict crop yield in tons/ha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Use agronomic and climate inputs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Keep the pipeline reproducible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Emphasize model explainability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645920"/>
            <a:ext cx="27432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755648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215E98"/>
                </a:solidFill>
                <a:latin typeface="Aptos"/>
              </a:rPr>
              <a:t>Competition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21408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Keep raw data unchanged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Use cleaned outputs in processed folder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Engineer real weather-derived features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Exclude price_birr_per_quintal from modeling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645920"/>
            <a:ext cx="4754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75564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F3A334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121408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Better farmer planning and resource allocation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 early intervention across regions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Improves regional decision-making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Enables data-driven agricultural policy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Data and cleaning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Traceable preprocessing from raw files to model-ready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108960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2E7D5C"/>
                </a:solidFill>
                <a:latin typeface="Aptos"/>
              </a:rPr>
              <a:t>Data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Agronomic field records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Regional weather observations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Crop and region metadata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Competition output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645920"/>
            <a:ext cx="3383280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755648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215E98"/>
                </a:solidFill>
                <a:latin typeface="Aptos"/>
              </a:rPr>
              <a:t>Cleaning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121408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Standardized region and crop labels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Converted month values to numeric form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Imputed missing values with group-wise medians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Created an audit log for traceability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1645920"/>
            <a:ext cx="3657600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755648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F3A334"/>
                </a:solidFill>
                <a:latin typeface="Aptos"/>
              </a:rPr>
              <a:t>Output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2121408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data/processed/master_train.csv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data/processed/master_test.csv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data/processed/data_dictionary_master.csv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Traceable cleaning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Turning raw agronomic and climate signals into predictive power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24688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E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D9EFE4"/>
                </a:solidFill>
                <a:latin typeface="Aptos"/>
              </a:rPr>
              <a:t>Weather-derived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21408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Seasonal rainfall totals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Mean temperature by season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Heat-day indicators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Temperature variability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E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755648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D9EFE4"/>
                </a:solidFill>
                <a:latin typeface="Aptos"/>
              </a:rPr>
              <a:t>Agronomic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121408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Fertilizer and soil measures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Crop and region contextual variables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Planting-month effects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Interaction terms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24688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E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755648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D9EFE4"/>
                </a:solidFill>
                <a:latin typeface="Aptos"/>
              </a:rPr>
              <a:t>Modeling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21408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Price excluded as required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No leakage from validation data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Consistent preprocessing across splits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Features kept aligned with competition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645920"/>
            <a:ext cx="25603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755648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F3A334"/>
                </a:solidFill>
                <a:latin typeface="Aptos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121408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Improved signal quality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Reduced noise from raw seasonal variation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Supported better regional patterns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Strong base for machine learning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Modeling and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Comparing baseline and predictive models on a held-out validation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77724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920240" cy="457200"/>
          </a:xfrm>
          <a:prstGeom prst="rect">
            <a:avLst/>
          </a:prstGeom>
          <a:solidFill>
            <a:srgbClr val="215E98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0136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1920240" cy="457200"/>
          </a:xfrm>
          <a:prstGeom prst="rect">
            <a:avLst/>
          </a:prstGeom>
          <a:solidFill>
            <a:srgbClr val="215E98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180136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737360"/>
            <a:ext cx="1920240" cy="457200"/>
          </a:xfrm>
          <a:prstGeom prst="rect">
            <a:avLst/>
          </a:prstGeom>
          <a:solidFill>
            <a:srgbClr val="215E98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80136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MAE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737360"/>
            <a:ext cx="1920240" cy="457200"/>
          </a:xfrm>
          <a:prstGeom prst="rect">
            <a:avLst/>
          </a:prstGeom>
          <a:solidFill>
            <a:srgbClr val="215E98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80136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56032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63347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Mean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56032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263347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1.4131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56032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263347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1.1042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56032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263347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-0.0001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38328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45643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Linear regression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38328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345643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0.8896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338328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1728" y="345643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0.6650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38328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345643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0.6036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206240"/>
            <a:ext cx="1920240" cy="640080"/>
          </a:xfrm>
          <a:prstGeom prst="rect">
            <a:avLst/>
          </a:prstGeom>
          <a:solidFill>
            <a:srgbClr val="D9EFE4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42793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Random forest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4206240"/>
            <a:ext cx="1920240" cy="640080"/>
          </a:xfrm>
          <a:prstGeom prst="rect">
            <a:avLst/>
          </a:prstGeom>
          <a:solidFill>
            <a:srgbClr val="D9EFE4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61488" y="42793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0.5376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4206240"/>
            <a:ext cx="1920240" cy="640080"/>
          </a:xfrm>
          <a:prstGeom prst="rect">
            <a:avLst/>
          </a:prstGeom>
          <a:solidFill>
            <a:srgbClr val="D9EFE4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81728" y="42793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0.3950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4206240"/>
            <a:ext cx="1920240" cy="640080"/>
          </a:xfrm>
          <a:prstGeom prst="rect">
            <a:avLst/>
          </a:prstGeom>
          <a:solidFill>
            <a:srgbClr val="D9EFE4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2793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0.8553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9680" y="1828800"/>
            <a:ext cx="25603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0" y="1938528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2E7D5C"/>
                </a:solidFill>
                <a:latin typeface="Aptos"/>
              </a:rPr>
              <a:t>Selected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2304288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RandomForest regressor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Best RMSE and R²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Strong generalization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Saved as final_model.joblib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Results and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A model that explains the variance while keeping error 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0116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745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2E7D5C"/>
                </a:solidFill>
                <a:latin typeface="Aptos"/>
              </a:rPr>
              <a:t>R²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21408"/>
            <a:ext cx="1737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0C2034"/>
                </a:solidFill>
                <a:latin typeface="Aptos"/>
              </a:rPr>
              <a:t>0.8553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1737360"/>
            <a:ext cx="20116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54680" y="18745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3A334"/>
                </a:solidFill>
                <a:latin typeface="Aptos"/>
              </a:rPr>
              <a:t>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121408"/>
            <a:ext cx="1737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0C2034"/>
                </a:solidFill>
                <a:latin typeface="Aptos"/>
              </a:rPr>
              <a:t>0.5376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737360"/>
            <a:ext cx="20116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8745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2E7D5C"/>
                </a:solidFill>
                <a:latin typeface="Aptos"/>
              </a:rPr>
              <a:t>MAE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2121408"/>
            <a:ext cx="1737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0C2034"/>
                </a:solidFill>
                <a:latin typeface="Aptos"/>
              </a:rPr>
              <a:t>0.3950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645920"/>
            <a:ext cx="36576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755648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FFFFFF"/>
                </a:solidFill>
                <a:latin typeface="Aptos"/>
              </a:rPr>
              <a:t>Operational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21408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Improves crop yield forecasting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Supports farm-level planning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Helps prioritize interventions by region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Supports agronomic and seasonal decision-making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Maintain momentum with a stronger operational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29184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4708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2E7D5C"/>
                </a:solidFill>
                <a:latin typeface="Aptos"/>
              </a:rPr>
              <a:t>Model improvements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Test additional ensemble models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Add time-aware ecological features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Refine regional feature selection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29184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4708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215E98"/>
                </a:solidFill>
                <a:latin typeface="Aptos"/>
              </a:rPr>
              <a:t>Deployment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12848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Package the prediction workflow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Ship a Streamlit app for monitoring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Expose outputs to stakeholders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29184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4708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500">
                <a:solidFill>
                  <a:srgbClr val="F3A334"/>
                </a:solidFill>
                <a:latin typeface="Aptos"/>
              </a:rPr>
              <a:t>Operational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12848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 resilient farming decisions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Increase forecasting confidence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Create a reusable pipeline for future seasons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