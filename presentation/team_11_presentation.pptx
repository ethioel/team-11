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-691" y="-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0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E7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875520" y="640080"/>
            <a:ext cx="1280160" cy="1280160"/>
          </a:xfrm>
          <a:prstGeom prst="ellipse">
            <a:avLst/>
          </a:prstGeom>
          <a:solidFill>
            <a:srgbClr val="2E7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259568" y="978408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12648"/>
            <a:ext cx="71323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 dirty="0">
                <a:solidFill>
                  <a:srgbClr val="FFFFFF"/>
                </a:solidFill>
                <a:latin typeface="Aptos"/>
              </a:rPr>
              <a:t>Team 11</a:t>
            </a:r>
          </a:p>
          <a:p>
            <a:pPr algn="l"/>
            <a:r>
              <a:rPr sz="3000" b="1" dirty="0">
                <a:solidFill>
                  <a:srgbClr val="D9EFE4"/>
                </a:solidFill>
                <a:latin typeface="Aptos"/>
              </a:rPr>
              <a:t>Crop Yield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6035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dirty="0">
                <a:solidFill>
                  <a:srgbClr val="FFFFFF"/>
                </a:solidFill>
                <a:latin typeface="Aptos"/>
              </a:rPr>
              <a:t>Turning agronomic and climate data into accurate, actionable yield forecasts.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402408"/>
            <a:ext cx="22860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36118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dirty="0">
                <a:solidFill>
                  <a:srgbClr val="2E7D5C"/>
                </a:solidFill>
              </a:rPr>
              <a:t>Agricultural ML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3406140"/>
            <a:ext cx="25603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66160" y="352044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2E7D5C"/>
                </a:solidFill>
              </a:rPr>
              <a:t>Climate-informed 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3944" y="3402408"/>
            <a:ext cx="219456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16824" y="35661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dirty="0">
                <a:solidFill>
                  <a:srgbClr val="2E7D5C"/>
                </a:solidFill>
              </a:rPr>
              <a:t>Model 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0" y="2286000"/>
            <a:ext cx="29260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0" y="2606040"/>
            <a:ext cx="2377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0C2034"/>
                </a:solidFill>
              </a:rPr>
              <a:t>Validation highlights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3200400"/>
            <a:ext cx="2377440" cy="411480"/>
          </a:xfrm>
          <a:prstGeom prst="rect">
            <a:avLst/>
          </a:prstGeom>
          <a:solidFill>
            <a:srgbClr val="D9EFE4"/>
          </a:solidFill>
          <a:ln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0" y="324612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C2034"/>
                </a:solidFill>
              </a:rPr>
              <a:t>R²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0" y="32461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7D5C"/>
                </a:solidFill>
              </a:rPr>
              <a:t>0.8553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3840480"/>
            <a:ext cx="2377440" cy="411480"/>
          </a:xfrm>
          <a:prstGeom prst="rect">
            <a:avLst/>
          </a:prstGeom>
          <a:solidFill>
            <a:srgbClr val="D9EFE4"/>
          </a:solidFill>
          <a:ln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44000" y="388620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C2034"/>
                </a:solidFill>
              </a:rPr>
              <a:t>RMSE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38862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7D5C"/>
                </a:solidFill>
              </a:rPr>
              <a:t>0.5376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4480560"/>
            <a:ext cx="2377440" cy="411480"/>
          </a:xfrm>
          <a:prstGeom prst="rect">
            <a:avLst/>
          </a:prstGeom>
          <a:solidFill>
            <a:srgbClr val="D9EFE4"/>
          </a:solidFill>
          <a:ln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0" y="4526280"/>
            <a:ext cx="10972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0C2034"/>
                </a:solidFill>
              </a:rPr>
              <a:t>MAE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452628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2E7D5C"/>
                </a:solidFill>
              </a:rPr>
              <a:t>0.3950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065" y="4627829"/>
            <a:ext cx="4766077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 smtClean="0">
                <a:solidFill>
                  <a:schemeClr val="bg1">
                    <a:lumMod val="95000"/>
                  </a:schemeClr>
                </a:solidFill>
              </a:rPr>
              <a:t>Group 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</a:rPr>
              <a:t>Members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  <a:p>
            <a:pPr marL="228600" indent="-228600">
              <a:lnSpc>
                <a:spcPct val="200000"/>
              </a:lnSpc>
              <a:buFont typeface="+mj-lt"/>
              <a:buAutoNum type="arabicPeriod"/>
            </a:pPr>
            <a:r>
              <a:rPr lang="en-US" sz="1200" b="1" dirty="0" err="1" smtClean="0">
                <a:solidFill>
                  <a:schemeClr val="bg1">
                    <a:lumMod val="95000"/>
                  </a:schemeClr>
                </a:solidFill>
              </a:rPr>
              <a:t>Oli</a:t>
            </a:r>
            <a:r>
              <a:rPr lang="en-US" sz="1200" b="1" dirty="0" smtClean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200" b="1" dirty="0" err="1">
                <a:solidFill>
                  <a:schemeClr val="bg1">
                    <a:lumMod val="95000"/>
                  </a:schemeClr>
                </a:solidFill>
              </a:rPr>
              <a:t>Bakala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200" b="1" dirty="0" err="1">
                <a:solidFill>
                  <a:schemeClr val="bg1">
                    <a:lumMod val="95000"/>
                  </a:schemeClr>
                </a:solidFill>
              </a:rPr>
              <a:t>Beyena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</a:rPr>
              <a:t>, qiyas-2026-005295, Olibekele50@gmail.com</a:t>
            </a:r>
          </a:p>
          <a:p>
            <a:pPr marL="228600" indent="-228600">
              <a:lnSpc>
                <a:spcPct val="200000"/>
              </a:lnSpc>
              <a:buFont typeface="+mj-lt"/>
              <a:buAutoNum type="arabicPeriod"/>
            </a:pPr>
            <a:r>
              <a:rPr lang="en-US" sz="1200" b="1" dirty="0" err="1" smtClean="0">
                <a:solidFill>
                  <a:schemeClr val="bg1">
                    <a:lumMod val="95000"/>
                  </a:schemeClr>
                </a:solidFill>
              </a:rPr>
              <a:t>Bereket</a:t>
            </a:r>
            <a:r>
              <a:rPr lang="en-US" sz="1200" b="1" dirty="0" smtClean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</a:rPr>
              <a:t>G/</a:t>
            </a:r>
            <a:r>
              <a:rPr lang="en-US" sz="1200" b="1" dirty="0" err="1">
                <a:solidFill>
                  <a:schemeClr val="bg1">
                    <a:lumMod val="95000"/>
                  </a:schemeClr>
                </a:solidFill>
              </a:rPr>
              <a:t>Alif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</a:rPr>
              <a:t>, qiyas-2026-004845,  bereketgalif21@gmail.com</a:t>
            </a:r>
          </a:p>
          <a:p>
            <a:pPr marL="228600" indent="-228600">
              <a:lnSpc>
                <a:spcPct val="200000"/>
              </a:lnSpc>
              <a:buFont typeface="+mj-lt"/>
              <a:buAutoNum type="arabicPeriod"/>
            </a:pPr>
            <a:r>
              <a:rPr lang="en-US" sz="1200" b="1" dirty="0" err="1" smtClean="0">
                <a:solidFill>
                  <a:schemeClr val="bg1">
                    <a:lumMod val="95000"/>
                  </a:schemeClr>
                </a:solidFill>
              </a:rPr>
              <a:t>Ermiyas</a:t>
            </a:r>
            <a:r>
              <a:rPr lang="en-US" sz="1200" b="1" dirty="0" smtClean="0">
                <a:solidFill>
                  <a:schemeClr val="bg1">
                    <a:lumMod val="95000"/>
                  </a:schemeClr>
                </a:solidFill>
              </a:rPr>
              <a:t> </a:t>
            </a:r>
            <a:r>
              <a:rPr lang="en-US" sz="1200" b="1" dirty="0" err="1">
                <a:solidFill>
                  <a:schemeClr val="bg1">
                    <a:lumMod val="95000"/>
                  </a:schemeClr>
                </a:solidFill>
              </a:rPr>
              <a:t>Zewdu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</a:rPr>
              <a:t>, qiyas-2026-004085, Ermiyaszewdu266@gmail.com</a:t>
            </a:r>
          </a:p>
          <a:p>
            <a:pPr marL="228600" indent="-228600">
              <a:lnSpc>
                <a:spcPct val="200000"/>
              </a:lnSpc>
              <a:buFont typeface="+mj-lt"/>
              <a:buAutoNum type="arabicPeriod"/>
            </a:pPr>
            <a:r>
              <a:rPr lang="en-US" sz="1200" b="1" dirty="0" smtClean="0">
                <a:solidFill>
                  <a:schemeClr val="bg1">
                    <a:lumMod val="95000"/>
                  </a:schemeClr>
                </a:solidFill>
              </a:rPr>
              <a:t>Samuel </a:t>
            </a:r>
            <a:r>
              <a:rPr lang="en-US" sz="1200" b="1" dirty="0" err="1">
                <a:solidFill>
                  <a:schemeClr val="bg1">
                    <a:lumMod val="95000"/>
                  </a:schemeClr>
                </a:solidFill>
              </a:rPr>
              <a:t>Kahsay</a:t>
            </a:r>
            <a:r>
              <a:rPr lang="en-US" sz="1200" b="1" dirty="0">
                <a:solidFill>
                  <a:schemeClr val="bg1">
                    <a:lumMod val="95000"/>
                  </a:schemeClr>
                </a:solidFill>
              </a:rPr>
              <a:t>, qiyas-2026-001108, Samuelkahsay76@gmail.com</a:t>
            </a:r>
          </a:p>
          <a:p>
            <a:r>
              <a:rPr lang="en-US" sz="1200" dirty="0">
                <a:solidFill>
                  <a:schemeClr val="bg1">
                    <a:lumMod val="95000"/>
                  </a:schemeClr>
                </a:solidFill>
              </a:rPr>
              <a:t/>
            </a:r>
            <a:br>
              <a:rPr lang="en-US" sz="1200" dirty="0">
                <a:solidFill>
                  <a:schemeClr val="bg1">
                    <a:lumMod val="95000"/>
                  </a:schemeClr>
                </a:solidFill>
              </a:rPr>
            </a:b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8686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latin typeface="Aptos"/>
              </a:rPr>
              <a:t>Project objective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4172937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dirty="0">
                <a:latin typeface="Aptos"/>
              </a:rPr>
              <a:t>Build a reliable crop yield forecast under competition constraints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27432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E7D5C"/>
                </a:solidFill>
                <a:latin typeface="Aptos"/>
              </a:rPr>
              <a:t>Core goal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Predict crop yield in tons/ha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Use agronomic and climate inputs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Keep the pipeline reproducible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Emphasize model explainability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645920"/>
            <a:ext cx="274320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40480" y="1755648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15E98"/>
                </a:solidFill>
                <a:latin typeface="Aptos"/>
              </a:rPr>
              <a:t>Competition rules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121408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Keep raw data unchanged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Use cleaned outputs in processed folder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Engineer real weather-derived features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Exclude price_birr_per_quintal from modeling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645920"/>
            <a:ext cx="475488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A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0" y="1755648"/>
            <a:ext cx="4389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3A334"/>
                </a:solidFill>
                <a:latin typeface="Aptos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121408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Better farmer planning and resource allocation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Support early intervention across regions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Improves regional decision-making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Enables data-driven agricultural policy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8686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latin typeface="Aptos"/>
              </a:rPr>
              <a:t>Data and cleaning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3903633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dirty="0">
                <a:latin typeface="Aptos"/>
              </a:rPr>
              <a:t>Traceable preprocessing from raw files to model-ready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45920"/>
            <a:ext cx="3108960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E7D5C"/>
                </a:solidFill>
                <a:latin typeface="Aptos"/>
              </a:rPr>
              <a:t>Data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21408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Agronomic field records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Regional weather observations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Crop and region metadata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Competition output structure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023360" y="1645920"/>
            <a:ext cx="3383280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06240" y="1755648"/>
            <a:ext cx="3017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15E98"/>
                </a:solidFill>
                <a:latin typeface="Aptos"/>
              </a:rPr>
              <a:t>Cleaning 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121408"/>
            <a:ext cx="3017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Standardized region and crop labels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Converted month values to numeric form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Imputed missing values with group-wise medians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Created an audit log for traceability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1645920"/>
            <a:ext cx="3657600" cy="2651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A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955280" y="1755648"/>
            <a:ext cx="3291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3A334"/>
                </a:solidFill>
                <a:latin typeface="Aptos"/>
              </a:rPr>
              <a:t>Output 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2121408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data/processed/master_train.csv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data/processed/master_test.csv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data/processed/data_dictionary_master.csv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Traceable cleaning log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0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Feature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Turning raw agronomic and climate signals into predictive power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645920"/>
            <a:ext cx="2598576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E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249273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dirty="0">
                <a:latin typeface="Aptos"/>
              </a:rPr>
              <a:t>Weather-derived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21408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dirty="0">
                <a:solidFill>
                  <a:srgbClr val="212121"/>
                </a:solidFill>
                <a:latin typeface="Aptos"/>
              </a:rPr>
              <a:t>Seasonal rainfall totals</a:t>
            </a:r>
          </a:p>
          <a:p>
            <a:pPr algn="l">
              <a:spcAft>
                <a:spcPts val="600"/>
              </a:spcAft>
            </a:pPr>
            <a:r>
              <a:rPr sz="1100" dirty="0">
                <a:solidFill>
                  <a:srgbClr val="212121"/>
                </a:solidFill>
                <a:latin typeface="Aptos"/>
              </a:rPr>
              <a:t>Mean temperature by season</a:t>
            </a:r>
          </a:p>
          <a:p>
            <a:pPr algn="l">
              <a:spcAft>
                <a:spcPts val="600"/>
              </a:spcAft>
            </a:pPr>
            <a:r>
              <a:rPr sz="1100" dirty="0">
                <a:solidFill>
                  <a:srgbClr val="212121"/>
                </a:solidFill>
                <a:latin typeface="Aptos"/>
              </a:rPr>
              <a:t>Heat-day indicators</a:t>
            </a:r>
          </a:p>
          <a:p>
            <a:pPr algn="l">
              <a:spcAft>
                <a:spcPts val="600"/>
              </a:spcAft>
            </a:pPr>
            <a:r>
              <a:rPr sz="1100" dirty="0">
                <a:solidFill>
                  <a:srgbClr val="212121"/>
                </a:solidFill>
                <a:latin typeface="Aptos"/>
              </a:rPr>
              <a:t>Temperature variability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4688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E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11880" y="1755648"/>
            <a:ext cx="2002471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dirty="0">
                <a:latin typeface="Aptos"/>
              </a:rPr>
              <a:t>Agronomic features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121408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dirty="0">
                <a:solidFill>
                  <a:srgbClr val="212121"/>
                </a:solidFill>
                <a:latin typeface="Aptos"/>
              </a:rPr>
              <a:t>Fertilizer and soil measures</a:t>
            </a:r>
          </a:p>
          <a:p>
            <a:pPr algn="l">
              <a:spcAft>
                <a:spcPts val="600"/>
              </a:spcAft>
            </a:pPr>
            <a:r>
              <a:rPr sz="1100" dirty="0">
                <a:solidFill>
                  <a:srgbClr val="212121"/>
                </a:solidFill>
                <a:latin typeface="Aptos"/>
              </a:rPr>
              <a:t>Crop and region contextual variables</a:t>
            </a:r>
          </a:p>
          <a:p>
            <a:pPr algn="l">
              <a:spcAft>
                <a:spcPts val="600"/>
              </a:spcAft>
            </a:pPr>
            <a:r>
              <a:rPr sz="1100" dirty="0">
                <a:solidFill>
                  <a:srgbClr val="212121"/>
                </a:solidFill>
                <a:latin typeface="Aptos"/>
              </a:rPr>
              <a:t>Planting-month effects</a:t>
            </a:r>
          </a:p>
          <a:p>
            <a:pPr algn="l">
              <a:spcAft>
                <a:spcPts val="600"/>
              </a:spcAft>
            </a:pPr>
            <a:r>
              <a:rPr sz="1100" dirty="0">
                <a:solidFill>
                  <a:srgbClr val="212121"/>
                </a:solidFill>
                <a:latin typeface="Aptos"/>
              </a:rPr>
              <a:t>Interaction terms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645920"/>
            <a:ext cx="246888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9E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1755648"/>
            <a:ext cx="200888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dirty="0">
                <a:latin typeface="Aptos"/>
              </a:rPr>
              <a:t>Modeling 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121408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dirty="0">
                <a:solidFill>
                  <a:srgbClr val="212121"/>
                </a:solidFill>
                <a:latin typeface="Aptos"/>
              </a:rPr>
              <a:t>Price excluded as required</a:t>
            </a:r>
          </a:p>
          <a:p>
            <a:pPr algn="l">
              <a:spcAft>
                <a:spcPts val="600"/>
              </a:spcAft>
            </a:pPr>
            <a:r>
              <a:rPr sz="1100" dirty="0">
                <a:solidFill>
                  <a:srgbClr val="212121"/>
                </a:solidFill>
                <a:latin typeface="Aptos"/>
              </a:rPr>
              <a:t>No leakage from validation data</a:t>
            </a:r>
          </a:p>
          <a:p>
            <a:pPr algn="l">
              <a:spcAft>
                <a:spcPts val="600"/>
              </a:spcAft>
            </a:pPr>
            <a:r>
              <a:rPr sz="1100" dirty="0">
                <a:solidFill>
                  <a:srgbClr val="212121"/>
                </a:solidFill>
                <a:latin typeface="Aptos"/>
              </a:rPr>
              <a:t>Consistent preprocessing across splits</a:t>
            </a:r>
          </a:p>
          <a:p>
            <a:pPr algn="l">
              <a:spcAft>
                <a:spcPts val="600"/>
              </a:spcAft>
            </a:pPr>
            <a:r>
              <a:rPr sz="1100" dirty="0">
                <a:solidFill>
                  <a:srgbClr val="212121"/>
                </a:solidFill>
                <a:latin typeface="Aptos"/>
              </a:rPr>
              <a:t>Features kept aligned with competition rules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15400" y="1645920"/>
            <a:ext cx="25603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A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98280" y="1755648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3A334"/>
                </a:solidFill>
                <a:latin typeface="Aptos"/>
              </a:rPr>
              <a:t>Impact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8280" y="2121408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Improved signal quality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Reduced noise from raw seasonal variation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Supported better regional patterns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Strong base for machine learning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8686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latin typeface="Aptos"/>
              </a:rPr>
              <a:t>Modeling and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4639412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dirty="0">
                <a:latin typeface="Aptos"/>
              </a:rPr>
              <a:t>Comparing baseline and predictive models on a held-out validation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77724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1920240" cy="457200"/>
          </a:xfrm>
          <a:prstGeom prst="rect">
            <a:avLst/>
          </a:prstGeom>
          <a:solidFill>
            <a:srgbClr val="215E98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801368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737360"/>
            <a:ext cx="1920240" cy="457200"/>
          </a:xfrm>
          <a:prstGeom prst="rect">
            <a:avLst/>
          </a:prstGeom>
          <a:solidFill>
            <a:srgbClr val="215E98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88920" y="1801368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737360"/>
            <a:ext cx="1920240" cy="457200"/>
          </a:xfrm>
          <a:prstGeom prst="rect">
            <a:avLst/>
          </a:prstGeom>
          <a:solidFill>
            <a:srgbClr val="215E98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09160" y="1801368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MAE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737360"/>
            <a:ext cx="1920240" cy="457200"/>
          </a:xfrm>
          <a:prstGeom prst="rect">
            <a:avLst/>
          </a:prstGeom>
          <a:solidFill>
            <a:srgbClr val="215E98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29400" y="1801368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56032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" y="263347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Mean baseline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256032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61488" y="263347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1.4131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256032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81728" y="263347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1.1042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256032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01968" y="263347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-0.0001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38328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" y="345643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Linear regression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51760" y="338328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61488" y="345643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0.8896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0" y="338328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81728" y="345643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0.6650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3383280"/>
            <a:ext cx="192024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01968" y="345643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0.6036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206240"/>
            <a:ext cx="1920240" cy="640080"/>
          </a:xfrm>
          <a:prstGeom prst="rect">
            <a:avLst/>
          </a:prstGeom>
          <a:solidFill>
            <a:srgbClr val="D9EFE4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" y="42793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Random forest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51760" y="4206240"/>
            <a:ext cx="1920240" cy="640080"/>
          </a:xfrm>
          <a:prstGeom prst="rect">
            <a:avLst/>
          </a:prstGeom>
          <a:solidFill>
            <a:srgbClr val="D9EFE4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761488" y="42793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0.5376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4206240"/>
            <a:ext cx="1920240" cy="640080"/>
          </a:xfrm>
          <a:prstGeom prst="rect">
            <a:avLst/>
          </a:prstGeom>
          <a:solidFill>
            <a:srgbClr val="D9EFE4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81728" y="42793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0.3950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0" y="4206240"/>
            <a:ext cx="1920240" cy="640080"/>
          </a:xfrm>
          <a:prstGeom prst="rect">
            <a:avLst/>
          </a:prstGeom>
          <a:solidFill>
            <a:srgbClr val="D9EFE4"/>
          </a:solidFill>
          <a:ln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01968" y="427939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212121"/>
                </a:solidFill>
              </a:rPr>
              <a:t>0.8553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9680" y="1828800"/>
            <a:ext cx="256032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052560" y="1938528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E7D5C"/>
                </a:solidFill>
                <a:latin typeface="Aptos"/>
              </a:rPr>
              <a:t>Selected model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52560" y="2304288"/>
            <a:ext cx="21945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RandomForest regressor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Best RMSE and R²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Strong generalization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Saved as final_model.joblib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0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Aptos"/>
              </a:rPr>
              <a:t>Results and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A model that explains the variance while keeping error 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0116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87452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2E7D5C"/>
                </a:solidFill>
                <a:latin typeface="Aptos"/>
              </a:rPr>
              <a:t>R²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21408"/>
            <a:ext cx="1737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0C2034"/>
                </a:solidFill>
                <a:latin typeface="Aptos"/>
              </a:rPr>
              <a:t>0.8553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1737360"/>
            <a:ext cx="20116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3A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54680" y="187452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F3A334"/>
                </a:solidFill>
                <a:latin typeface="Aptos"/>
              </a:rPr>
              <a:t>RMSE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4680" y="2121408"/>
            <a:ext cx="1737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0C2034"/>
                </a:solidFill>
                <a:latin typeface="Aptos"/>
              </a:rPr>
              <a:t>0.5376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0" y="1737360"/>
            <a:ext cx="2011680" cy="13716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40680" y="187452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1">
                <a:solidFill>
                  <a:srgbClr val="2E7D5C"/>
                </a:solidFill>
                <a:latin typeface="Aptos"/>
              </a:rPr>
              <a:t>MAE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2121408"/>
            <a:ext cx="1737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0C2034"/>
                </a:solidFill>
                <a:latin typeface="Aptos"/>
              </a:rPr>
              <a:t>0.3950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1645920"/>
            <a:ext cx="36576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0" y="1755648"/>
            <a:ext cx="1797287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 dirty="0">
                <a:latin typeface="Aptos"/>
              </a:rPr>
              <a:t>Operational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121408"/>
            <a:ext cx="3291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Improves crop yield forecasting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Supports farm-level planning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Helps prioritize interventions by region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Supports agronomic and seasonal decision-making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411480"/>
            <a:ext cx="8686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latin typeface="Aptos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87552"/>
            <a:ext cx="36872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dirty="0">
                <a:latin typeface="Aptos"/>
              </a:rPr>
              <a:t>Maintain momentum with a stronger operational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29184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47088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E7D5C"/>
                </a:solidFill>
                <a:latin typeface="Aptos"/>
              </a:rPr>
              <a:t>Model improvements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Test additional ensemble models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Add time-aware ecological features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Refine regional feature selection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29184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15E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0" y="1847088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215E98"/>
                </a:solidFill>
                <a:latin typeface="Aptos"/>
              </a:rPr>
              <a:t>Deployment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212848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Package the prediction workflow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Ship a Streamlit app for monitoring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Expose outputs to stakeholders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291840" cy="2560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3A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0" y="1847088"/>
            <a:ext cx="2926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3A334"/>
                </a:solidFill>
                <a:latin typeface="Aptos"/>
              </a:rPr>
              <a:t>Operational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212848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Support resilient farming decisions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Increase forecasting confidence</a:t>
            </a:r>
          </a:p>
          <a:p>
            <a:pPr algn="l">
              <a:spcAft>
                <a:spcPts val="600"/>
              </a:spcAft>
            </a:pPr>
            <a:r>
              <a:rPr sz="1100">
                <a:solidFill>
                  <a:srgbClr val="212121"/>
                </a:solidFill>
                <a:latin typeface="Aptos"/>
              </a:rPr>
              <a:t>Create a reusable pipeline for future seasons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396</Words>
  <Application>Microsoft Office PowerPoint</Application>
  <PresentationFormat>Custom</PresentationFormat>
  <Paragraphs>126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ismail - [2010]</cp:lastModifiedBy>
  <cp:revision>5</cp:revision>
  <dcterms:created xsi:type="dcterms:W3CDTF">2013-01-27T09:14:16Z</dcterms:created>
  <dcterms:modified xsi:type="dcterms:W3CDTF">2026-10-06T15:15:03Z</dcterms:modified>
  <cp:category/>
</cp:coreProperties>
</file>