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esentation" id="{4d742557-f13f-7711-0eb0-b836257325aa}">
          <p14:sldIdLst>
            <p14:sldId id="256"/>
            <p14:sldId id="257"/>
            <p14:sldId id="258"/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C6B61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5C6B61"/>
                </a:solidFill>
                <a:latin typeface="+mn-lt"/>
              </a:rPr>
              <a:t>Model comparison: validation RMSE (t/ha)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Validation RMSE</c:v>
                </c:pt>
              </c:strCache>
            </c:strRef>
          </c:tx>
          <c:spPr>
            <a:solidFill>
              <a:srgbClr val="9AA89E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B2A2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89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A89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7D4F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Mean baseline</c:v>
                  </c:pt>
                  <c:pt idx="1">
                    <c:v>Linear</c:v>
                  </c:pt>
                  <c:pt idx="2">
                    <c:v>Random forest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1.4131</c:v>
                </c:pt>
                <c:pt idx="1">
                  <c:v>0.8896</c:v>
                </c:pt>
                <c:pt idx="2">
                  <c:v>0.5376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b="1" i="0" strike="noStrike" sz="1300" u="none">
                  <a:solidFill>
                    <a:srgbClr val="1B2A2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6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6"/>
          <c:min val="0"/>
        </c:scaling>
        <c:delete val="0"/>
        <c:axPos val="l"/>
        <c:majorGridlines>
          <c:spPr>
            <a:ln w="9525" cap="flat">
              <a:solidFill>
                <a:srgbClr val="DCE5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B6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4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C6B61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5C6B61"/>
                </a:solidFill>
                <a:latin typeface="+mn-lt"/>
              </a:rPr>
              <a:t>Weather ablation: validation RMSE (t/ha)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Validation RMSE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B2A2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855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4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Without weather</c:v>
                  </c:pt>
                  <c:pt idx="1">
                    <c:v>With weather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0.6041</c:v>
                </c:pt>
                <c:pt idx="1">
                  <c:v>0.5376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b="1" i="0" strike="noStrike" sz="1300" u="none">
                  <a:solidFill>
                    <a:srgbClr val="1B2A2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6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9525" cap="flat">
              <a:solidFill>
                <a:srgbClr val="DCE5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B6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 min. Say it in your own words: we predict yield in tons per hectare for Ethiopian smallholder plots from planting-time information, then turn it into revenue. Three datasets: plot survey and regional weather feed the yield model; regional prices are used only for revenue, never as a yield feature.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 min. Join map: plot -&gt; weather on region, year and planting month, aggregating the planting month plus next three months into season features; plot -&gt; price on region, crop, year. Row count stayed 15,090 (no duplication). Weather match 74.66%, 3,824 incomplete windows flagged, not zero-filled; price match 100%; 25 engineered features. Cleaning fixed missing values, inconsistent region labels, impossible values, duplicates and unit inconsistencies in a reproducible pipeline. Replace/add your own A4 table numbers if they differ.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 min. Left figure (fig04): maize has the highest mean yield in every region, 3.90 t/ha overall. Right figure (fig09): revenue per hectare depends on price too, so teff leads in Oromia, SNNPR and Tigray even though maize yields more. Extra finding if asked: improved seed raises mean yield from 2.57 to 3.08 t/ha (association, not causation).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~1.5 min. Random forest beat the mean baseline (1.4131) and linear regression (0.8896) with RMSE 0.5376. Ablation: without weather 0.6041, with weather 0.5376 (improvement 0.0665, about 11%). 5-fold CV RMSE 0.5576 +/- 0.0046, small SD means stable across folds. 2024 out-of-time check 0.5515. Preprocessing fit on training data only; price not used as a yield feature.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 min. Figure (fig11): actual vs predicted and residuals on validation. Worst crop teff, worst region Somali; present the explanation as a hypothesis. Final validation: RMSE 0.5376, MAE 0.3950, R2 0.8553. Open https://crop-yield-planner.streamlit.app/ during Q&amp;A and run a prediction with the revenue estimate. Next: uncertainty estimates, stronger validation, richer features. Team: Oli Bakala Beyena, Bereket G/Alif, Ermiyas Zewdu, Samuel Kahsay.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738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45720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43891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>
                    <a:alpha val="55000"/>
                  </a:schemeClr>
                </a:solidFill>
              </a:rPr>
              <a:t>Team 11  |  Crop Yield Prediction &amp; Revenue Demo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E">
    <p:bg>
      <p:bgPr>
        <a:solidFill>
          <a:srgbClr val="1738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crop-yield-planner.streamlit.app/" TargetMode="Externa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problem and three datasets</a:t>
            </a:r>
            <a:endParaRPr lang="en-US" sz="3200" dirty="0"/>
          </a:p>
        </p:txBody>
      </p:sp>
      <p:sp>
        <p:nvSpPr>
          <p:cNvPr id="3" name="Problem card"/>
          <p:cNvSpPr/>
          <p:nvPr/>
        </p:nvSpPr>
        <p:spPr>
          <a:xfrm>
            <a:off x="457200" y="1188720"/>
            <a:ext cx="3840480" cy="3383280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371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THE PROBLEM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6916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we forecast how much a smallholder plot in Ethiopia will yield, and what it could earn?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0040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Regression on yield_tons_per_ha using only what is known at planting. Predicted yield × farm size × price gives revenue in birr.</a:t>
            </a:r>
            <a:endParaRPr lang="en-US" sz="1400" dirty="0"/>
          </a:p>
        </p:txBody>
      </p:sp>
      <p:sp>
        <p:nvSpPr>
          <p:cNvPr id="7" name="Dataset card 1"/>
          <p:cNvSpPr/>
          <p:nvPr/>
        </p:nvSpPr>
        <p:spPr>
          <a:xfrm>
            <a:off x="4572000" y="1188720"/>
            <a:ext cx="4114800" cy="1042416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/>
        </p:spPr>
      </p:sp>
      <p:sp>
        <p:nvSpPr>
          <p:cNvPr id="8" name="Plot survey circle"/>
          <p:cNvSpPr/>
          <p:nvPr/>
        </p:nvSpPr>
        <p:spPr>
          <a:xfrm>
            <a:off x="4754880" y="1435608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Plot survey icon" descr="Plot surv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7526" y="1578254"/>
            <a:ext cx="263347" cy="263347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Plot survey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223760" y="136245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YIELD MODEL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0" y="16916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Plot traits, farm size and inputs</a:t>
            </a:r>
            <a:endParaRPr lang="en-US" sz="1300" dirty="0"/>
          </a:p>
        </p:txBody>
      </p:sp>
      <p:sp>
        <p:nvSpPr>
          <p:cNvPr id="13" name="Dataset card 2"/>
          <p:cNvSpPr/>
          <p:nvPr/>
        </p:nvSpPr>
        <p:spPr>
          <a:xfrm>
            <a:off x="4572000" y="2359152"/>
            <a:ext cx="4114800" cy="1042416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/>
        </p:spPr>
      </p:sp>
      <p:sp>
        <p:nvSpPr>
          <p:cNvPr id="14" name="Regional weather circle"/>
          <p:cNvSpPr/>
          <p:nvPr/>
        </p:nvSpPr>
        <p:spPr>
          <a:xfrm>
            <a:off x="4754880" y="2606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Regional weather icon" descr="Regional weath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7526" y="2748686"/>
            <a:ext cx="263347" cy="263347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486400" y="249631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Regional weather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7223760" y="25328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YIELD MODEL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0" y="286207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Monthly temperature, rainfall, extreme heat</a:t>
            </a:r>
            <a:endParaRPr lang="en-US" sz="1300" dirty="0"/>
          </a:p>
        </p:txBody>
      </p:sp>
      <p:sp>
        <p:nvSpPr>
          <p:cNvPr id="19" name="Dataset card 3"/>
          <p:cNvSpPr/>
          <p:nvPr/>
        </p:nvSpPr>
        <p:spPr>
          <a:xfrm>
            <a:off x="4572000" y="3529584"/>
            <a:ext cx="4114800" cy="1042416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/>
        </p:spPr>
      </p:sp>
      <p:sp>
        <p:nvSpPr>
          <p:cNvPr id="20" name="Regional prices circle"/>
          <p:cNvSpPr/>
          <p:nvPr/>
        </p:nvSpPr>
        <p:spPr>
          <a:xfrm>
            <a:off x="4754880" y="3776472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1" name="Regional prices icon" descr="Regional pric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7526" y="3919118"/>
            <a:ext cx="263347" cy="263347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5486400" y="366674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Regional prices</a:t>
            </a:r>
            <a:endParaRPr lang="en-US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7223760" y="37033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chemeClr val="accent3"/>
                </a:solidFill>
              </a:rPr>
              <a:t>REVENUE ONLY</a:t>
            </a:r>
            <a:endParaRPr lang="en-US" sz="1000" dirty="0"/>
          </a:p>
        </p:txBody>
      </p:sp>
      <p:sp>
        <p:nvSpPr>
          <p:cNvPr id="24" name="Text 19"/>
          <p:cNvSpPr txBox="1"/>
          <p:nvPr/>
        </p:nvSpPr>
        <p:spPr>
          <a:xfrm>
            <a:off x="5486400" y="4032504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Price per quintal by region, crop and year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Cleaning and integration</a:t>
            </a:r>
            <a:endParaRPr lang="en-US" sz="3200" dirty="0"/>
          </a:p>
        </p:txBody>
      </p:sp>
      <p:sp>
        <p:nvSpPr>
          <p:cNvPr id="3" name="Plot table box"/>
          <p:cNvSpPr/>
          <p:nvPr/>
        </p:nvSpPr>
        <p:spPr>
          <a:xfrm>
            <a:off x="457200" y="1188720"/>
            <a:ext cx="2103120" cy="178308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371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Plot table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15,090 plots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region, crop, year,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planting month</a:t>
            </a:r>
            <a:endParaRPr lang="en-US" sz="1300" dirty="0"/>
          </a:p>
        </p:txBody>
      </p:sp>
      <p:sp>
        <p:nvSpPr>
          <p:cNvPr id="6" name="Weather table box"/>
          <p:cNvSpPr/>
          <p:nvPr/>
        </p:nvSpPr>
        <p:spPr>
          <a:xfrm>
            <a:off x="6309360" y="1188720"/>
            <a:ext cx="2377440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309360" y="11887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Weather (monthly)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season features</a:t>
            </a:r>
            <a:endParaRPr lang="en-US" sz="1400" dirty="0"/>
          </a:p>
        </p:txBody>
      </p:sp>
      <p:sp>
        <p:nvSpPr>
          <p:cNvPr id="8" name="Price table box"/>
          <p:cNvSpPr/>
          <p:nvPr/>
        </p:nvSpPr>
        <p:spPr>
          <a:xfrm>
            <a:off x="6309360" y="2148840"/>
            <a:ext cx="2377440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0" y="21488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Prices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revenue only</a:t>
            </a:r>
            <a:endParaRPr lang="en-US" sz="1400" dirty="0"/>
          </a:p>
        </p:txBody>
      </p:sp>
      <p:sp>
        <p:nvSpPr>
          <p:cNvPr id="10" name="Join arrow"/>
          <p:cNvSpPr/>
          <p:nvPr/>
        </p:nvSpPr>
        <p:spPr>
          <a:xfrm>
            <a:off x="2697480" y="1600200"/>
            <a:ext cx="3474720" cy="0"/>
          </a:xfrm>
          <a:prstGeom prst="line">
            <a:avLst/>
          </a:prstGeom>
          <a:noFill/>
          <a:ln w="3175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Join arrow"/>
          <p:cNvSpPr/>
          <p:nvPr/>
        </p:nvSpPr>
        <p:spPr>
          <a:xfrm>
            <a:off x="2697480" y="2560320"/>
            <a:ext cx="3474720" cy="0"/>
          </a:xfrm>
          <a:prstGeom prst="line">
            <a:avLst/>
          </a:prstGeom>
          <a:noFill/>
          <a:ln w="3175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2743200" y="10972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61"/>
                </a:solidFill>
              </a:rPr>
              <a:t>region + year + planting month, then 4-month window averaged to season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22402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61"/>
                </a:solidFill>
              </a:rPr>
              <a:t>region + crop + year</a:t>
            </a:r>
            <a:endParaRPr lang="en-US" sz="1200" dirty="0"/>
          </a:p>
        </p:txBody>
      </p:sp>
      <p:sp>
        <p:nvSpPr>
          <p:cNvPr id="14" name="Key number 1"/>
          <p:cNvSpPr/>
          <p:nvPr/>
        </p:nvSpPr>
        <p:spPr>
          <a:xfrm>
            <a:off x="457200" y="3246120"/>
            <a:ext cx="1536192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338328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15,090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39319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rows before and after joins</a:t>
            </a:r>
            <a:endParaRPr lang="en-US" sz="1200" dirty="0"/>
          </a:p>
        </p:txBody>
      </p:sp>
      <p:sp>
        <p:nvSpPr>
          <p:cNvPr id="17" name="Key number 2"/>
          <p:cNvSpPr/>
          <p:nvPr/>
        </p:nvSpPr>
        <p:spPr>
          <a:xfrm>
            <a:off x="2130552" y="3246120"/>
            <a:ext cx="1536192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267712" y="338328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74.66%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2267712" y="39319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weather join match</a:t>
            </a:r>
            <a:endParaRPr lang="en-US" sz="1200" dirty="0"/>
          </a:p>
        </p:txBody>
      </p:sp>
      <p:sp>
        <p:nvSpPr>
          <p:cNvPr id="20" name="Key number 3"/>
          <p:cNvSpPr/>
          <p:nvPr/>
        </p:nvSpPr>
        <p:spPr>
          <a:xfrm>
            <a:off x="3803904" y="3246120"/>
            <a:ext cx="1536192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941064" y="338328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3941064" y="39319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price join match</a:t>
            </a:r>
            <a:endParaRPr lang="en-US" sz="1200" dirty="0"/>
          </a:p>
        </p:txBody>
      </p:sp>
      <p:sp>
        <p:nvSpPr>
          <p:cNvPr id="23" name="Key number 4"/>
          <p:cNvSpPr/>
          <p:nvPr/>
        </p:nvSpPr>
        <p:spPr>
          <a:xfrm>
            <a:off x="5477256" y="3246120"/>
            <a:ext cx="1536192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614416" y="338328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3,824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5614416" y="39319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incomplete weather windows</a:t>
            </a:r>
            <a:endParaRPr lang="en-US" sz="1200" dirty="0"/>
          </a:p>
        </p:txBody>
      </p:sp>
      <p:sp>
        <p:nvSpPr>
          <p:cNvPr id="26" name="Key number 5"/>
          <p:cNvSpPr/>
          <p:nvPr/>
        </p:nvSpPr>
        <p:spPr>
          <a:xfrm>
            <a:off x="7150608" y="3246120"/>
            <a:ext cx="1536192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287768" y="338328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7287768" y="39319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engineered features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What the data says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 Maize gives the highest yield</a:t>
            </a:r>
            <a:endParaRPr lang="en-US" sz="1600" dirty="0"/>
          </a:p>
        </p:txBody>
      </p:sp>
      <p:pic>
        <p:nvPicPr>
          <p:cNvPr id="4" name="Figure: mean yield by region and crop" descr="Heatmap of mean yield by region and crop; maize is highest in every reg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54480"/>
            <a:ext cx="4023360" cy="241401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0690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Maize tops every region: 3.90 t/ha on average, up to 4.8 in SNNPR.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663440" y="11430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 Top yield is not top revenue</a:t>
            </a:r>
            <a:endParaRPr lang="en-US" sz="1600" dirty="0"/>
          </a:p>
        </p:txBody>
      </p:sp>
      <p:pic>
        <p:nvPicPr>
          <p:cNvPr id="7" name="Figure: revenue per hectare by crop and region" descr="Heatmap of revenue per hectare by crop and region; teff is highest in Oromia, SNNPR and Tigr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54480"/>
            <a:ext cx="4023360" cy="241401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663440" y="40690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Teff leads revenue per hectare in Oromia, SNNPR and Tigray despite lower yield.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Modeling and evaluation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43000"/>
          <a:ext cx="402336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4663440" y="1143000"/>
          <a:ext cx="402336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Evaluation strip"/>
          <p:cNvSpPr/>
          <p:nvPr/>
        </p:nvSpPr>
        <p:spPr>
          <a:xfrm>
            <a:off x="457200" y="3931920"/>
            <a:ext cx="8229600" cy="731520"/>
          </a:xfrm>
          <a:prstGeom prst="roundRect">
            <a:avLst>
              <a:gd name="adj" fmla="val 15000"/>
            </a:avLst>
          </a:prstGeom>
          <a:solidFill>
            <a:schemeClr val="tx2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640080" y="39319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5-fold CV RMSE 0.5576 ± 0.0046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   |   2024 out-of-time 0.5515   |   Weather cuts RMSE by 0.0665 (11%)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Errors, score, demo and next steps</a:t>
            </a:r>
            <a:endParaRPr lang="en-US" sz="3200" dirty="0"/>
          </a:p>
        </p:txBody>
      </p:sp>
      <p:pic>
        <p:nvPicPr>
          <p:cNvPr id="3" name="Figure: actual vs predicted and residuals" descr="Actual versus predicted yield and residuals versus predicted yie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43000"/>
            <a:ext cx="4754880" cy="1981505"/>
          </a:xfrm>
          <a:prstGeom prst="rect">
            <a:avLst/>
          </a:prstGeom>
        </p:spPr>
      </p:pic>
      <p:sp>
        <p:nvSpPr>
          <p:cNvPr id="4" name="Error analysis card"/>
          <p:cNvSpPr/>
          <p:nvPr/>
        </p:nvSpPr>
        <p:spPr>
          <a:xfrm>
            <a:off x="457200" y="3246120"/>
            <a:ext cx="475488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85800" y="335584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 analysis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3675888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Worst crop: teff   |   Worst region: Somali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Errors cluster in low-yield, high-variation settings. The reason is a hypothesis, not proven.</a:t>
            </a:r>
            <a:endParaRPr lang="en-US" sz="1300" dirty="0"/>
          </a:p>
        </p:txBody>
      </p:sp>
      <p:sp>
        <p:nvSpPr>
          <p:cNvPr id="7" name="Final score card"/>
          <p:cNvSpPr/>
          <p:nvPr/>
        </p:nvSpPr>
        <p:spPr>
          <a:xfrm>
            <a:off x="5394960" y="1143000"/>
            <a:ext cx="3291840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577840" y="12161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validation score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577840" y="1554480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0.5376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577840" y="1938528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RMSE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583680" y="1554480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0.3950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6583680" y="1938528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MAE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589520" y="1554480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0.8553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0" y="1938528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R²</a:t>
            </a:r>
            <a:endParaRPr lang="en-US" sz="1200" dirty="0"/>
          </a:p>
        </p:txBody>
      </p:sp>
      <p:sp>
        <p:nvSpPr>
          <p:cNvPr id="15" name="Demo card"/>
          <p:cNvSpPr/>
          <p:nvPr/>
        </p:nvSpPr>
        <p:spPr>
          <a:xfrm>
            <a:off x="5394960" y="2331720"/>
            <a:ext cx="3291840" cy="1143000"/>
          </a:xfrm>
          <a:prstGeom prst="roundRect">
            <a:avLst>
              <a:gd name="adj" fmla="val 9600"/>
            </a:avLst>
          </a:prstGeom>
          <a:solidFill>
            <a:schemeClr val="accent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577840" y="24048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577840" y="2724912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u="sng" dirty="0">
                <a:solidFill>
                  <a:schemeClr val="bg1"/>
                </a:solidFill>
                <a:hlinkClick r:id="rId2" invalidUrl="" action="" tgtFrame="" tooltip="Open the live dem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crop-yield-planner.streamlit.app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Yield + revenue (birr) for any plot</a:t>
            </a:r>
            <a:endParaRPr lang="en-US" sz="1300" dirty="0"/>
          </a:p>
        </p:txBody>
      </p:sp>
      <p:sp>
        <p:nvSpPr>
          <p:cNvPr id="18" name="Next steps card"/>
          <p:cNvSpPr/>
          <p:nvPr/>
        </p:nvSpPr>
        <p:spPr>
          <a:xfrm>
            <a:off x="5394960" y="3566160"/>
            <a:ext cx="32918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577840" y="36301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one more week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577840" y="39319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Uncertainty estimates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Stronger time and region validation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Richer weather and agronomic features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ighland Harvest">
  <a:themeElements>
    <a:clrScheme name="Highland Harvest">
      <a:dk1>
        <a:srgbClr val="1B2A20"/>
      </a:dk1>
      <a:lt1>
        <a:srgbClr val="FFFFFF"/>
      </a:lt1>
      <a:dk2>
        <a:srgbClr val="17382A"/>
      </a:dk2>
      <a:lt2>
        <a:srgbClr val="EDF3EA"/>
      </a:lt2>
      <a:accent1>
        <a:srgbClr val="2E7D4F"/>
      </a:accent1>
      <a:accent2>
        <a:srgbClr val="E0A526"/>
      </a:accent2>
      <a:accent3>
        <a:srgbClr val="C8553D"/>
      </a:accent3>
      <a:accent4>
        <a:srgbClr val="6A994E"/>
      </a:accent4>
      <a:accent5>
        <a:srgbClr val="7A5C3E"/>
      </a:accent5>
      <a:accent6>
        <a:srgbClr val="3A7CA5"/>
      </a:accent6>
      <a:hlink>
        <a:srgbClr val="3A7CA5"/>
      </a:hlink>
      <a:folHlink>
        <a:srgbClr val="7A5C3E"/>
      </a:folHlink>
    </a:clrScheme>
    <a:fontScheme name="Highland Harvest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Team 11 Crop Yield Presentation</dc:title>
  <dc:subject>PptxGenJS Presentation</dc:subject>
  <dc:creator>Team 11</dc:creator>
  <cp:lastModifiedBy>Team 11</cp:lastModifiedBy>
  <cp:revision>1</cp:revision>
  <dcterms:created xsi:type="dcterms:W3CDTF">2026-10-08T07:01:17Z</dcterms:created>
  <dcterms:modified xsi:type="dcterms:W3CDTF">2026-10-08T07:01:17Z</dcterms:modified>
</cp:coreProperties>
</file>